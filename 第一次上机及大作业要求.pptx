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3" r:id="rId1"/>
  </p:sldMasterIdLst>
  <p:notesMasterIdLst>
    <p:notesMasterId r:id="rId4"/>
  </p:notesMasterIdLst>
  <p:handoutMasterIdLst>
    <p:handoutMasterId r:id="rId5"/>
  </p:handoutMasterIdLst>
  <p:sldIdLst>
    <p:sldId id="1841" r:id="rId2"/>
    <p:sldId id="1844" r:id="rId3"/>
  </p:sldIdLst>
  <p:sldSz cx="12192000" cy="6858000"/>
  <p:notesSz cx="7099300" cy="10234613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81BD"/>
    <a:srgbClr val="CCFFFF"/>
    <a:srgbClr val="C0504D"/>
    <a:srgbClr val="8064A2"/>
    <a:srgbClr val="175F8B"/>
    <a:srgbClr val="E0CFBD"/>
    <a:srgbClr val="A62038"/>
    <a:srgbClr val="E8E8E8"/>
    <a:srgbClr val="F2F2F2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286" autoAdjust="0"/>
    <p:restoredTop sz="72431" autoAdjust="0"/>
  </p:normalViewPr>
  <p:slideViewPr>
    <p:cSldViewPr snapToGrid="0" showGuides="1">
      <p:cViewPr varScale="1">
        <p:scale>
          <a:sx n="80" d="100"/>
          <a:sy n="80" d="100"/>
        </p:scale>
        <p:origin x="152" y="44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 showGuides="1">
      <p:cViewPr varScale="1">
        <p:scale>
          <a:sx n="43" d="100"/>
          <a:sy n="43" d="100"/>
        </p:scale>
        <p:origin x="2208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512A60F-63B3-4D54-AA63-B159FADA9F3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8513A3C-D0C5-45C0-BD52-194E7639670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615569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71883" y="1385889"/>
            <a:ext cx="5069085" cy="5043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7025" y="1385889"/>
            <a:ext cx="5125509" cy="5043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3383853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3451" y="350838"/>
            <a:ext cx="10648950" cy="70643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3451" y="1535113"/>
            <a:ext cx="51120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33451" y="2174875"/>
            <a:ext cx="5112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412443" y="1535113"/>
            <a:ext cx="51120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412443" y="2174875"/>
            <a:ext cx="5112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2281034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062728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0"/>
          <p:cNvSpPr>
            <a:spLocks noGrp="1" noChangeArrowheads="1"/>
          </p:cNvSpPr>
          <p:nvPr>
            <p:ph type="title"/>
          </p:nvPr>
        </p:nvSpPr>
        <p:spPr bwMode="auto">
          <a:xfrm>
            <a:off x="971883" y="338087"/>
            <a:ext cx="10830650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Slide Title</a:t>
            </a:r>
          </a:p>
        </p:txBody>
      </p:sp>
      <p:sp>
        <p:nvSpPr>
          <p:cNvPr id="1027" name="Rectangle 205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1883" y="1362074"/>
            <a:ext cx="10830650" cy="509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7950" tIns="53975" rIns="107950" bIns="539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Articles and prepositions are not caps in titles</a:t>
            </a:r>
          </a:p>
          <a:p>
            <a:pPr lvl="1"/>
            <a:r>
              <a:rPr lang="en-US" altLang="zh-CN" dirty="0"/>
              <a:t>Unless, of course, the title starts with one</a:t>
            </a:r>
          </a:p>
          <a:p>
            <a:pPr lvl="2"/>
            <a:r>
              <a:rPr lang="en-US" altLang="zh-CN" dirty="0"/>
              <a:t>Proper names always have leading caps</a:t>
            </a:r>
          </a:p>
          <a:p>
            <a:pPr lvl="3"/>
            <a:r>
              <a:rPr lang="en-US" altLang="zh-CN" dirty="0"/>
              <a:t>Acronyms are always all caps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Rectangle 2052"/>
          <p:cNvSpPr>
            <a:spLocks noGrp="1" noChangeArrowheads="1"/>
          </p:cNvSpPr>
          <p:nvPr/>
        </p:nvSpPr>
        <p:spPr bwMode="auto">
          <a:xfrm>
            <a:off x="4165600" y="6384925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73E1FF"/>
              </a:buClr>
              <a:defRPr/>
            </a:pPr>
            <a:fld id="{F9C654ED-D147-4A92-8C6D-E00EBE6C3285}" type="slidenum">
              <a:rPr lang="zh-CN" altLang="en-US" sz="800" smtClean="0">
                <a:solidFill>
                  <a:srgbClr val="73E1FF"/>
                </a:solidFill>
                <a:ea typeface="宋体" panose="02010600030101010101" pitchFamily="2" charset="-122"/>
              </a:rPr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73E1FF"/>
                </a:buClr>
                <a:defRPr/>
              </a:pPr>
              <a:t>‹#›</a:t>
            </a:fld>
            <a:endParaRPr lang="en-US" altLang="zh-CN" sz="800" b="1">
              <a:solidFill>
                <a:srgbClr val="73E1FF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Text Box 2053"/>
          <p:cNvSpPr txBox="1">
            <a:spLocks noChangeArrowheads="1"/>
          </p:cNvSpPr>
          <p:nvPr/>
        </p:nvSpPr>
        <p:spPr bwMode="auto">
          <a:xfrm>
            <a:off x="10261600" y="5943600"/>
            <a:ext cx="18288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950" tIns="53975" rIns="107950" bIns="53975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73E1FF"/>
              </a:buClr>
              <a:buFontTx/>
              <a:buChar char="•"/>
              <a:defRPr/>
            </a:pPr>
            <a:endParaRPr lang="zh-CN" altLang="en-US" sz="1000">
              <a:solidFill>
                <a:srgbClr val="FFFFFF"/>
              </a:solidFill>
              <a:latin typeface="ZapfHumnst BT" pitchFamily="34" charset="0"/>
              <a:ea typeface="宋体" pitchFamily="2" charset="-122"/>
            </a:endParaRPr>
          </a:p>
        </p:txBody>
      </p:sp>
      <p:sp>
        <p:nvSpPr>
          <p:cNvPr id="10" name="矩形: 圆顶角 8">
            <a:extLst>
              <a:ext uri="{FF2B5EF4-FFF2-40B4-BE49-F238E27FC236}">
                <a16:creationId xmlns:a16="http://schemas.microsoft.com/office/drawing/2014/main" id="{CA077194-128D-476C-9745-132314CF1629}"/>
              </a:ext>
            </a:extLst>
          </p:cNvPr>
          <p:cNvSpPr/>
          <p:nvPr userDrawn="1"/>
        </p:nvSpPr>
        <p:spPr>
          <a:xfrm flipV="1">
            <a:off x="971883" y="1163586"/>
            <a:ext cx="1155300" cy="68568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剪去单角 13">
            <a:extLst>
              <a:ext uri="{FF2B5EF4-FFF2-40B4-BE49-F238E27FC236}">
                <a16:creationId xmlns:a16="http://schemas.microsoft.com/office/drawing/2014/main" id="{FDED2BD0-0E30-418E-8C84-40EC2826C0CB}"/>
              </a:ext>
            </a:extLst>
          </p:cNvPr>
          <p:cNvSpPr/>
          <p:nvPr userDrawn="1"/>
        </p:nvSpPr>
        <p:spPr>
          <a:xfrm rot="5400000" flipV="1">
            <a:off x="6020103" y="686100"/>
            <a:ext cx="147097" cy="12196703"/>
          </a:xfrm>
          <a:prstGeom prst="snip1Rect">
            <a:avLst>
              <a:gd name="adj" fmla="val 0"/>
            </a:avLst>
          </a:prstGeom>
          <a:solidFill>
            <a:srgbClr val="FFFFFF">
              <a:lumMod val="75000"/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FB622B44-6488-49FA-AB40-66099C4523D1}"/>
              </a:ext>
            </a:extLst>
          </p:cNvPr>
          <p:cNvSpPr txBox="1">
            <a:spLocks/>
          </p:cNvSpPr>
          <p:nvPr userDrawn="1"/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rgbClr val="E0CFB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8644C6-89F0-466C-949F-E70AD72679A8}" type="slidenum">
              <a:rPr lang="zh-CN" altLang="en-US" smtClean="0">
                <a:ea typeface="微软雅黑"/>
              </a:rPr>
              <a:pPr/>
              <a:t>‹#›</a:t>
            </a:fld>
            <a:endParaRPr lang="zh-CN" altLang="en-US">
              <a:ea typeface="微软雅黑"/>
            </a:endParaRPr>
          </a:p>
        </p:txBody>
      </p:sp>
      <p:sp>
        <p:nvSpPr>
          <p:cNvPr id="20" name="平行四边形 19">
            <a:extLst>
              <a:ext uri="{FF2B5EF4-FFF2-40B4-BE49-F238E27FC236}">
                <a16:creationId xmlns:a16="http://schemas.microsoft.com/office/drawing/2014/main" id="{6EDAD85A-00BB-47A7-945B-4BAF53F476FD}"/>
              </a:ext>
            </a:extLst>
          </p:cNvPr>
          <p:cNvSpPr/>
          <p:nvPr userDrawn="1"/>
        </p:nvSpPr>
        <p:spPr>
          <a:xfrm>
            <a:off x="893764" y="6710902"/>
            <a:ext cx="873216" cy="147098"/>
          </a:xfrm>
          <a:prstGeom prst="parallelogram">
            <a:avLst/>
          </a:prstGeom>
          <a:solidFill>
            <a:srgbClr val="E0CF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49831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05" r:id="rId1"/>
    <p:sldLayoutId id="2147483707" r:id="rId2"/>
    <p:sldLayoutId id="2147483708" r:id="rId3"/>
    <p:sldLayoutId id="2147483709" r:id="rId4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Clr>
          <a:srgbClr val="73E1FF"/>
        </a:buClr>
        <a:defRPr lang="en-US" altLang="zh-CN" sz="3200" b="1" kern="1200" baseline="0" dirty="0" smtClean="0">
          <a:solidFill>
            <a:srgbClr val="175F8B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buClr>
          <a:srgbClr val="73E1FF"/>
        </a:buClr>
        <a:defRPr sz="3600">
          <a:solidFill>
            <a:srgbClr val="FFFF99"/>
          </a:solidFill>
          <a:latin typeface="Arial Narrow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buClr>
          <a:srgbClr val="73E1FF"/>
        </a:buClr>
        <a:defRPr sz="3600">
          <a:solidFill>
            <a:srgbClr val="FFFF99"/>
          </a:solidFill>
          <a:latin typeface="Arial Narrow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buClr>
          <a:srgbClr val="73E1FF"/>
        </a:buClr>
        <a:defRPr sz="3600">
          <a:solidFill>
            <a:srgbClr val="FFFF99"/>
          </a:solidFill>
          <a:latin typeface="Arial Narrow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buClr>
          <a:srgbClr val="73E1FF"/>
        </a:buClr>
        <a:defRPr sz="3600">
          <a:solidFill>
            <a:srgbClr val="FFFF99"/>
          </a:solidFill>
          <a:latin typeface="Arial Narrow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buClr>
          <a:srgbClr val="73E1FF"/>
        </a:buClr>
        <a:defRPr sz="3600">
          <a:solidFill>
            <a:srgbClr val="FFFF99"/>
          </a:solidFill>
          <a:latin typeface="Arial Narrow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buClr>
          <a:srgbClr val="73E1FF"/>
        </a:buClr>
        <a:defRPr sz="3600">
          <a:solidFill>
            <a:srgbClr val="FFFF99"/>
          </a:solidFill>
          <a:latin typeface="Arial Narrow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buClr>
          <a:srgbClr val="73E1FF"/>
        </a:buClr>
        <a:defRPr sz="3600">
          <a:solidFill>
            <a:srgbClr val="FFFF99"/>
          </a:solidFill>
          <a:latin typeface="Arial Narrow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buClr>
          <a:srgbClr val="73E1FF"/>
        </a:buClr>
        <a:defRPr sz="3600">
          <a:solidFill>
            <a:srgbClr val="FFFF99"/>
          </a:solidFill>
          <a:latin typeface="Arial Narrow" pitchFamily="34" charset="0"/>
          <a:ea typeface="宋体" pitchFamily="2" charset="-122"/>
        </a:defRPr>
      </a:lvl9pPr>
    </p:titleStyle>
    <p:bodyStyle>
      <a:lvl1pPr marL="339725" indent="-339725" algn="l" rtl="0" eaLnBrk="0" fontAlgn="base" hangingPunct="0">
        <a:lnSpc>
          <a:spcPct val="125000"/>
        </a:lnSpc>
        <a:spcBef>
          <a:spcPts val="0"/>
        </a:spcBef>
        <a:spcAft>
          <a:spcPct val="0"/>
        </a:spcAft>
        <a:buClr>
          <a:srgbClr val="92D050"/>
        </a:buClr>
        <a:buFont typeface="Wingdings" panose="05000000000000000000" pitchFamily="2" charset="2"/>
        <a:buChar char="p"/>
        <a:defRPr lang="en-US" altLang="zh-CN" sz="2400" b="1" spc="0" baseline="0" dirty="0" smtClean="0">
          <a:solidFill>
            <a:schemeClr val="bg2"/>
          </a:solidFill>
          <a:latin typeface="Arial Unicode MS" panose="020B0604020202020204" pitchFamily="34" charset="-122"/>
          <a:ea typeface="微软雅黑" panose="020B0503020204020204" pitchFamily="34" charset="-122"/>
          <a:cs typeface="+mn-cs"/>
        </a:defRPr>
      </a:lvl1pPr>
      <a:lvl2pPr marL="682625" indent="-228600" algn="l" rtl="0" eaLnBrk="0" fontAlgn="base" hangingPunct="0">
        <a:lnSpc>
          <a:spcPct val="125000"/>
        </a:lnSpc>
        <a:spcBef>
          <a:spcPts val="0"/>
        </a:spcBef>
        <a:spcAft>
          <a:spcPct val="0"/>
        </a:spcAft>
        <a:buClr>
          <a:srgbClr val="92D050"/>
        </a:buClr>
        <a:buFont typeface="Wingdings" panose="05000000000000000000" pitchFamily="2" charset="2"/>
        <a:buChar char="§"/>
        <a:defRPr sz="2200" spc="0" baseline="0">
          <a:solidFill>
            <a:schemeClr val="bg2"/>
          </a:solidFill>
          <a:latin typeface="Arial Unicode MS" panose="020B0604020202020204" pitchFamily="34" charset="-122"/>
          <a:ea typeface="微软雅黑" panose="020B0503020204020204" pitchFamily="34" charset="-122"/>
        </a:defRPr>
      </a:lvl2pPr>
      <a:lvl3pPr marL="1025525" indent="-228600" algn="l" rtl="0" eaLnBrk="0" fontAlgn="base" hangingPunct="0">
        <a:lnSpc>
          <a:spcPct val="125000"/>
        </a:lnSpc>
        <a:spcBef>
          <a:spcPts val="0"/>
        </a:spcBef>
        <a:spcAft>
          <a:spcPct val="0"/>
        </a:spcAft>
        <a:buClr>
          <a:srgbClr val="92D050"/>
        </a:buClr>
        <a:buChar char="•"/>
        <a:defRPr sz="1800" spc="0" baseline="0">
          <a:solidFill>
            <a:schemeClr val="bg2"/>
          </a:solidFill>
          <a:latin typeface="Arial Unicode MS" panose="020B0604020202020204" pitchFamily="34" charset="-122"/>
          <a:ea typeface="微软雅黑" panose="020B0503020204020204" pitchFamily="34" charset="-122"/>
        </a:defRPr>
      </a:lvl3pPr>
      <a:lvl4pPr marL="1368425" indent="-228600" algn="l" rtl="0" eaLnBrk="0" fontAlgn="base" hangingPunct="0">
        <a:lnSpc>
          <a:spcPct val="125000"/>
        </a:lnSpc>
        <a:spcBef>
          <a:spcPts val="0"/>
        </a:spcBef>
        <a:spcAft>
          <a:spcPct val="0"/>
        </a:spcAft>
        <a:buClr>
          <a:srgbClr val="92D050"/>
        </a:buClr>
        <a:buFont typeface="Wingdings" panose="05000000000000000000" pitchFamily="2" charset="2"/>
        <a:buChar char="w"/>
        <a:defRPr sz="1600" spc="0" baseline="0">
          <a:solidFill>
            <a:schemeClr val="bg2"/>
          </a:solidFill>
          <a:latin typeface="Arial Unicode MS" panose="020B0604020202020204" pitchFamily="34" charset="-122"/>
          <a:ea typeface="微软雅黑" panose="020B0503020204020204" pitchFamily="34" charset="-122"/>
        </a:defRPr>
      </a:lvl4pPr>
      <a:lvl5pPr marL="1711325" indent="-228600" algn="l" rtl="0" eaLnBrk="0" fontAlgn="base" hangingPunct="0">
        <a:lnSpc>
          <a:spcPct val="125000"/>
        </a:lnSpc>
        <a:spcBef>
          <a:spcPts val="0"/>
        </a:spcBef>
        <a:spcAft>
          <a:spcPct val="0"/>
        </a:spcAft>
        <a:buClr>
          <a:srgbClr val="92D050"/>
        </a:buClr>
        <a:buChar char="•"/>
        <a:defRPr sz="1400" spc="0" baseline="0">
          <a:solidFill>
            <a:schemeClr val="bg2"/>
          </a:solidFill>
          <a:latin typeface="Arial Unicode MS" panose="020B0604020202020204" pitchFamily="34" charset="-122"/>
          <a:ea typeface="微软雅黑" panose="020B0503020204020204" pitchFamily="34" charset="-122"/>
        </a:defRPr>
      </a:lvl5pPr>
      <a:lvl6pPr marL="2168525" indent="-228600" algn="l" rtl="0" fontAlgn="base">
        <a:spcBef>
          <a:spcPct val="20000"/>
        </a:spcBef>
        <a:spcAft>
          <a:spcPct val="0"/>
        </a:spcAft>
        <a:buClr>
          <a:srgbClr val="FFFF99"/>
        </a:buClr>
        <a:buChar char="•"/>
        <a:defRPr sz="2400">
          <a:solidFill>
            <a:srgbClr val="FFFF99"/>
          </a:solidFill>
          <a:latin typeface="+mn-lt"/>
        </a:defRPr>
      </a:lvl6pPr>
      <a:lvl7pPr marL="2625725" indent="-228600" algn="l" rtl="0" fontAlgn="base">
        <a:spcBef>
          <a:spcPct val="20000"/>
        </a:spcBef>
        <a:spcAft>
          <a:spcPct val="0"/>
        </a:spcAft>
        <a:buClr>
          <a:srgbClr val="FFFF99"/>
        </a:buClr>
        <a:buChar char="•"/>
        <a:defRPr sz="2400">
          <a:solidFill>
            <a:srgbClr val="FFFF99"/>
          </a:solidFill>
          <a:latin typeface="+mn-lt"/>
        </a:defRPr>
      </a:lvl7pPr>
      <a:lvl8pPr marL="3082925" indent="-228600" algn="l" rtl="0" fontAlgn="base">
        <a:spcBef>
          <a:spcPct val="20000"/>
        </a:spcBef>
        <a:spcAft>
          <a:spcPct val="0"/>
        </a:spcAft>
        <a:buClr>
          <a:srgbClr val="FFFF99"/>
        </a:buClr>
        <a:buChar char="•"/>
        <a:defRPr sz="2400">
          <a:solidFill>
            <a:srgbClr val="FFFF99"/>
          </a:solidFill>
          <a:latin typeface="+mn-lt"/>
        </a:defRPr>
      </a:lvl8pPr>
      <a:lvl9pPr marL="3540125" indent="-228600" algn="l" rtl="0" fontAlgn="base">
        <a:spcBef>
          <a:spcPct val="20000"/>
        </a:spcBef>
        <a:spcAft>
          <a:spcPct val="0"/>
        </a:spcAft>
        <a:buClr>
          <a:srgbClr val="FFFF99"/>
        </a:buClr>
        <a:buChar char="•"/>
        <a:defRPr sz="2400">
          <a:solidFill>
            <a:srgbClr val="FFFF99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51571-F416-8535-F9F3-148FB4DC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883" y="338087"/>
            <a:ext cx="2922200" cy="688975"/>
          </a:xfrm>
        </p:spPr>
        <p:txBody>
          <a:bodyPr/>
          <a:lstStyle/>
          <a:p>
            <a:r>
              <a:rPr lang="zh-CN" altLang="en-US" dirty="0"/>
              <a:t>团队项目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80AFE4-D929-0A7F-B9C1-4142D79AE39E}"/>
              </a:ext>
            </a:extLst>
          </p:cNvPr>
          <p:cNvSpPr txBox="1"/>
          <p:nvPr/>
        </p:nvSpPr>
        <p:spPr>
          <a:xfrm>
            <a:off x="480263" y="1467490"/>
            <a:ext cx="11322270" cy="128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团队协同开发一个有创意、上规模、高质量的软件系统，项目要有一定的规模性。以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1-3</a:t>
            </a: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团队的方式来组织学生开展项目实践，每个成员在团队中应有明确的角色定位和任务分工。实践教学将安排一定的课内学时，对课程实践进行汇报、讲评、点评和指导，以发现和解决问题，交流分享实践经验和成果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7F1876-067B-7B47-7EB1-D34A50BCCA48}"/>
              </a:ext>
            </a:extLst>
          </p:cNvPr>
          <p:cNvSpPr txBox="1"/>
          <p:nvPr/>
        </p:nvSpPr>
        <p:spPr>
          <a:xfrm>
            <a:off x="480263" y="3017077"/>
            <a:ext cx="83478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软件开发的要求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endParaRPr lang="en-US" altLang="zh-CN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：采用迭代的开发过程，覆盖需求、设计、编码到测试各软件开发环节；</a:t>
            </a:r>
          </a:p>
          <a:p>
            <a:pPr marL="342900" indent="-342900">
              <a:buFont typeface="+mj-lt"/>
              <a:buAutoNum type="arabicPeriod"/>
            </a:pPr>
            <a:endParaRPr lang="zh-CN" altLang="en-US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：软件设计模块化、灵活，采用合理的架构风格和设计模式，能支持功   能需求和非功能需求，应对需求变更；</a:t>
            </a:r>
          </a:p>
          <a:p>
            <a:pPr marL="342900" indent="-342900">
              <a:buFont typeface="+mj-lt"/>
              <a:buAutoNum type="arabicPeriod"/>
            </a:pPr>
            <a:endParaRPr lang="zh-CN" altLang="en-US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：采用面向对象语言（ 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、或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等）进行开发，符合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编程规范；</a:t>
            </a:r>
          </a:p>
          <a:p>
            <a:pPr marL="342900" indent="-342900">
              <a:buFont typeface="+mj-lt"/>
              <a:buAutoNum type="arabicPeriod"/>
            </a:pPr>
            <a:endParaRPr lang="zh-CN" altLang="en-US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版本管理</a:t>
            </a: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：采用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r>
              <a:rPr lang="zh-CN" altLang="en-US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进行文档、模型和代码的版本管理。</a:t>
            </a:r>
          </a:p>
        </p:txBody>
      </p:sp>
    </p:spTree>
    <p:extLst>
      <p:ext uri="{BB962C8B-B14F-4D97-AF65-F5344CB8AC3E}">
        <p14:creationId xmlns:p14="http://schemas.microsoft.com/office/powerpoint/2010/main" val="34086335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51571-F416-8535-F9F3-148FB4DC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团队项目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0C48F5-6CE2-F125-5457-1648E43CC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80" y="1306661"/>
            <a:ext cx="5543513" cy="28424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ADB23D9-670E-3B53-CD7E-AB0727D92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504" y="4322700"/>
            <a:ext cx="8641896" cy="220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3487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OAD">
  <a:themeElements>
    <a:clrScheme name="OOAD 2">
      <a:dk1>
        <a:srgbClr val="000000"/>
      </a:dk1>
      <a:lt1>
        <a:srgbClr val="FFFFFF"/>
      </a:lt1>
      <a:dk2>
        <a:srgbClr val="0000FF"/>
      </a:dk2>
      <a:lt2>
        <a:srgbClr val="FFFF00"/>
      </a:lt2>
      <a:accent1>
        <a:srgbClr val="FF9900"/>
      </a:accent1>
      <a:accent2>
        <a:srgbClr val="00FFFF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33"/>
      </a:hlink>
      <a:folHlink>
        <a:srgbClr val="969696"/>
      </a:folHlink>
    </a:clrScheme>
    <a:fontScheme name="OOAD">
      <a:majorFont>
        <a:latin typeface="Arial Narrow"/>
        <a:ea typeface="宋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107950" tIns="53975" rIns="107950" bIns="53975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107950" tIns="53975" rIns="107950" bIns="53975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OA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OA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OA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OA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OA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OA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OA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9262</TotalTime>
  <Words>178</Words>
  <Application>Microsoft Office PowerPoint</Application>
  <PresentationFormat>宽屏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 Unicode MS</vt:lpstr>
      <vt:lpstr>ZapfHumnst BT</vt:lpstr>
      <vt:lpstr>等线</vt:lpstr>
      <vt:lpstr>微软雅黑</vt:lpstr>
      <vt:lpstr>Arial</vt:lpstr>
      <vt:lpstr>Arial Narrow</vt:lpstr>
      <vt:lpstr>Wingdings</vt:lpstr>
      <vt:lpstr>OOAD</vt:lpstr>
      <vt:lpstr>团队项目</vt:lpstr>
      <vt:lpstr>团队项目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徐臻</dc:creator>
  <cp:keywords>2021模板</cp:keywords>
  <cp:lastModifiedBy>HCXXWDG TKK</cp:lastModifiedBy>
  <cp:revision>442</cp:revision>
  <cp:lastPrinted>2022-09-05T15:18:22Z</cp:lastPrinted>
  <dcterms:created xsi:type="dcterms:W3CDTF">2019-01-23T14:14:04Z</dcterms:created>
  <dcterms:modified xsi:type="dcterms:W3CDTF">2026-06-10T02:02:19Z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2019-04-13T04:31:50.2944312Z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7b149082-93e1-4519-a220-b561cf239821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